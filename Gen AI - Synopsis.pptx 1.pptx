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TT Phobos" panose="020B0604020202020204" charset="0"/>
      <p:regular r:id="rId9"/>
    </p:embeddedFont>
    <p:embeddedFont>
      <p:font typeface="TT Phobo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cherukuri65@outlook.com" userId="64bd90075cf2cf4d" providerId="LiveId" clId="{15F0E139-D0B2-49CE-BD9A-395299234837}"/>
    <pc:docChg chg="modSld">
      <pc:chgData name="sravancherukuri65@outlook.com" userId="64bd90075cf2cf4d" providerId="LiveId" clId="{15F0E139-D0B2-49CE-BD9A-395299234837}" dt="2026-02-05T02:56:31.422" v="22" actId="20577"/>
      <pc:docMkLst>
        <pc:docMk/>
      </pc:docMkLst>
      <pc:sldChg chg="modSp mod">
        <pc:chgData name="sravancherukuri65@outlook.com" userId="64bd90075cf2cf4d" providerId="LiveId" clId="{15F0E139-D0B2-49CE-BD9A-395299234837}" dt="2026-02-05T02:56:31.422" v="22" actId="20577"/>
        <pc:sldMkLst>
          <pc:docMk/>
          <pc:sldMk cId="0" sldId="256"/>
        </pc:sldMkLst>
        <pc:spChg chg="mod">
          <ac:chgData name="sravancherukuri65@outlook.com" userId="64bd90075cf2cf4d" providerId="LiveId" clId="{15F0E139-D0B2-49CE-BD9A-395299234837}" dt="2026-02-05T02:56:31.422" v="22" actId="20577"/>
          <ac:spMkLst>
            <pc:docMk/>
            <pc:sldMk cId="0" sldId="256"/>
            <ac:spMk id="16" creationId="{00000000-0000-0000-0000-000000000000}"/>
          </ac:spMkLst>
        </pc:spChg>
      </pc:sldChg>
      <pc:sldChg chg="modSp mod">
        <pc:chgData name="sravancherukuri65@outlook.com" userId="64bd90075cf2cf4d" providerId="LiveId" clId="{15F0E139-D0B2-49CE-BD9A-395299234837}" dt="2026-02-05T02:55:42.770" v="16" actId="20577"/>
        <pc:sldMkLst>
          <pc:docMk/>
          <pc:sldMk cId="0" sldId="259"/>
        </pc:sldMkLst>
        <pc:spChg chg="mod">
          <ac:chgData name="sravancherukuri65@outlook.com" userId="64bd90075cf2cf4d" providerId="LiveId" clId="{15F0E139-D0B2-49CE-BD9A-395299234837}" dt="2026-02-05T02:55:42.770" v="16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441" y="229762"/>
            <a:ext cx="3349257" cy="1075430"/>
            <a:chOff x="0" y="0"/>
            <a:chExt cx="4465676" cy="1433906"/>
          </a:xfrm>
        </p:grpSpPr>
        <p:sp>
          <p:nvSpPr>
            <p:cNvPr id="3" name="Freeform 3" descr="School of Commerce &amp; Management, Dayananda Sagar University, Bangalore"/>
            <p:cNvSpPr/>
            <p:nvPr/>
          </p:nvSpPr>
          <p:spPr>
            <a:xfrm>
              <a:off x="0" y="0"/>
              <a:ext cx="4465701" cy="1433957"/>
            </a:xfrm>
            <a:custGeom>
              <a:avLst/>
              <a:gdLst/>
              <a:ahLst/>
              <a:cxnLst/>
              <a:rect l="l" t="t" r="r" b="b"/>
              <a:pathLst>
                <a:path w="4465701" h="1433957">
                  <a:moveTo>
                    <a:pt x="0" y="0"/>
                  </a:moveTo>
                  <a:lnTo>
                    <a:pt x="4465701" y="0"/>
                  </a:lnTo>
                  <a:lnTo>
                    <a:pt x="4465701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1"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017143" y="229762"/>
            <a:ext cx="3521145" cy="1075430"/>
            <a:chOff x="0" y="0"/>
            <a:chExt cx="4694860" cy="1433906"/>
          </a:xfrm>
        </p:grpSpPr>
        <p:sp>
          <p:nvSpPr>
            <p:cNvPr id="5" name="Freeform 5" descr="DAYANANDA SAGAR UNIVERSITY SCHOOL OF ENGINEERING SCHEME &amp; SYLLABUS FOR  BACHELOR OF TECHNOLOGY (B.Tech.) – 2020 COMPUTER SC"/>
            <p:cNvSpPr/>
            <p:nvPr/>
          </p:nvSpPr>
          <p:spPr>
            <a:xfrm>
              <a:off x="0" y="0"/>
              <a:ext cx="4694809" cy="1433957"/>
            </a:xfrm>
            <a:custGeom>
              <a:avLst/>
              <a:gdLst/>
              <a:ahLst/>
              <a:cxnLst/>
              <a:rect l="l" t="t" r="r" b="b"/>
              <a:pathLst>
                <a:path w="4694809" h="1433957">
                  <a:moveTo>
                    <a:pt x="0" y="0"/>
                  </a:moveTo>
                  <a:lnTo>
                    <a:pt x="4694809" y="0"/>
                  </a:lnTo>
                  <a:lnTo>
                    <a:pt x="4694809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647970" y="128387"/>
            <a:ext cx="1760410" cy="1259957"/>
            <a:chOff x="0" y="0"/>
            <a:chExt cx="2347214" cy="1679943"/>
          </a:xfrm>
        </p:grpSpPr>
        <p:sp>
          <p:nvSpPr>
            <p:cNvPr id="7" name="Freeform 7" descr="Dayananda Sagar University"/>
            <p:cNvSpPr/>
            <p:nvPr/>
          </p:nvSpPr>
          <p:spPr>
            <a:xfrm>
              <a:off x="0" y="0"/>
              <a:ext cx="2347214" cy="1679956"/>
            </a:xfrm>
            <a:custGeom>
              <a:avLst/>
              <a:gdLst/>
              <a:ahLst/>
              <a:cxnLst/>
              <a:rect l="l" t="t" r="r" b="b"/>
              <a:pathLst>
                <a:path w="2347214" h="1679956">
                  <a:moveTo>
                    <a:pt x="0" y="0"/>
                  </a:moveTo>
                  <a:lnTo>
                    <a:pt x="2347214" y="0"/>
                  </a:lnTo>
                  <a:lnTo>
                    <a:pt x="2347214" y="1679956"/>
                  </a:lnTo>
                  <a:lnTo>
                    <a:pt x="0" y="1679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11" t="-11156" r="-9532" b="-1442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7058646" y="128387"/>
            <a:ext cx="1053922" cy="1075430"/>
            <a:chOff x="0" y="0"/>
            <a:chExt cx="1405230" cy="14339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5255" cy="1433957"/>
            </a:xfrm>
            <a:custGeom>
              <a:avLst/>
              <a:gdLst/>
              <a:ahLst/>
              <a:cxnLst/>
              <a:rect l="l" t="t" r="r" b="b"/>
              <a:pathLst>
                <a:path w="1405255" h="1433957">
                  <a:moveTo>
                    <a:pt x="0" y="0"/>
                  </a:moveTo>
                  <a:lnTo>
                    <a:pt x="1405255" y="0"/>
                  </a:lnTo>
                  <a:lnTo>
                    <a:pt x="1405255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r="1" b="-6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3880" y="1434065"/>
            <a:ext cx="16470287" cy="147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spc="28">
                <a:solidFill>
                  <a:srgbClr val="4472C4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Dayananda Sagar University (DSU) - Main Campus</a:t>
            </a:r>
          </a:p>
          <a:p>
            <a:pPr algn="ctr">
              <a:lnSpc>
                <a:spcPts val="4320"/>
              </a:lnSpc>
            </a:pPr>
            <a:r>
              <a:rPr lang="en-US" sz="3600" b="1" spc="28">
                <a:solidFill>
                  <a:srgbClr val="4472C4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School of Engineering</a:t>
            </a:r>
          </a:p>
          <a:p>
            <a:pPr algn="ctr">
              <a:lnSpc>
                <a:spcPts val="2160"/>
              </a:lnSpc>
            </a:pPr>
            <a:r>
              <a:rPr lang="en-US" sz="1800" b="1" spc="14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Devarakaggalahalli, Harohalli Kanakapura Road, Bengaluru South Dist., Karnataka 562112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4732" y="3003728"/>
            <a:ext cx="17398536" cy="235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23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DEPARTMENT OF</a:t>
            </a:r>
          </a:p>
          <a:p>
            <a:pPr algn="ctr">
              <a:lnSpc>
                <a:spcPts val="3600"/>
              </a:lnSpc>
            </a:pPr>
            <a:r>
              <a:rPr lang="en-US" sz="3000" b="1" spc="23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COMPUTER SCIENCE AND ENGINEERING </a:t>
            </a:r>
          </a:p>
          <a:p>
            <a:pPr algn="ctr">
              <a:lnSpc>
                <a:spcPts val="3600"/>
              </a:lnSpc>
            </a:pPr>
            <a:r>
              <a:rPr lang="en-US" sz="3000" b="1" spc="23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(ARTIFICIAL INTELLIGENCE AND MACHINE LEARNING)</a:t>
            </a:r>
          </a:p>
          <a:p>
            <a:pPr algn="ctr">
              <a:lnSpc>
                <a:spcPts val="3600"/>
              </a:lnSpc>
            </a:pPr>
            <a:r>
              <a:rPr lang="en-US" sz="3000" b="1" spc="23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Generative -AI (23AM3609)</a:t>
            </a:r>
          </a:p>
          <a:p>
            <a:pPr algn="ctr">
              <a:lnSpc>
                <a:spcPts val="3600"/>
              </a:lnSpc>
            </a:pPr>
            <a:r>
              <a:rPr lang="en-US" sz="3000" b="1" spc="23">
                <a:solidFill>
                  <a:srgbClr val="FF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Synopsis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756" y="5450557"/>
            <a:ext cx="173985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23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Title: “RAG-Based Intelligent Document Chatbot using Generative AI”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10019" y="6675030"/>
            <a:ext cx="8225033" cy="1630054"/>
            <a:chOff x="0" y="0"/>
            <a:chExt cx="10966710" cy="2173406"/>
          </a:xfrm>
        </p:grpSpPr>
        <p:sp>
          <p:nvSpPr>
            <p:cNvPr id="14" name="Freeform 14"/>
            <p:cNvSpPr/>
            <p:nvPr/>
          </p:nvSpPr>
          <p:spPr>
            <a:xfrm>
              <a:off x="12083" y="9525"/>
              <a:ext cx="10942609" cy="2154305"/>
            </a:xfrm>
            <a:custGeom>
              <a:avLst/>
              <a:gdLst/>
              <a:ahLst/>
              <a:cxnLst/>
              <a:rect l="l" t="t" r="r" b="b"/>
              <a:pathLst>
                <a:path w="10942609" h="2154305">
                  <a:moveTo>
                    <a:pt x="0" y="0"/>
                  </a:moveTo>
                  <a:lnTo>
                    <a:pt x="10942609" y="0"/>
                  </a:lnTo>
                  <a:lnTo>
                    <a:pt x="10942609" y="2154305"/>
                  </a:lnTo>
                  <a:lnTo>
                    <a:pt x="0" y="2154305"/>
                  </a:lnTo>
                  <a:close/>
                </a:path>
              </a:pathLst>
            </a:custGeom>
            <a:solidFill>
              <a:srgbClr val="2F5597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966762" cy="2173355"/>
            </a:xfrm>
            <a:custGeom>
              <a:avLst/>
              <a:gdLst/>
              <a:ahLst/>
              <a:cxnLst/>
              <a:rect l="l" t="t" r="r" b="b"/>
              <a:pathLst>
                <a:path w="10966762" h="2173355">
                  <a:moveTo>
                    <a:pt x="12083" y="0"/>
                  </a:moveTo>
                  <a:lnTo>
                    <a:pt x="10954692" y="0"/>
                  </a:lnTo>
                  <a:cubicBezTo>
                    <a:pt x="10961297" y="0"/>
                    <a:pt x="10966762" y="4318"/>
                    <a:pt x="10966762" y="9525"/>
                  </a:cubicBezTo>
                  <a:lnTo>
                    <a:pt x="10966762" y="2163830"/>
                  </a:lnTo>
                  <a:cubicBezTo>
                    <a:pt x="10966762" y="2169037"/>
                    <a:pt x="10961297" y="2173355"/>
                    <a:pt x="10954692" y="2173355"/>
                  </a:cubicBezTo>
                  <a:lnTo>
                    <a:pt x="12083" y="2173355"/>
                  </a:lnTo>
                  <a:cubicBezTo>
                    <a:pt x="5478" y="2173355"/>
                    <a:pt x="0" y="2169037"/>
                    <a:pt x="0" y="2163830"/>
                  </a:cubicBezTo>
                  <a:lnTo>
                    <a:pt x="0" y="9525"/>
                  </a:lnTo>
                  <a:cubicBezTo>
                    <a:pt x="0" y="4318"/>
                    <a:pt x="5478" y="0"/>
                    <a:pt x="12083" y="0"/>
                  </a:cubicBezTo>
                  <a:moveTo>
                    <a:pt x="12083" y="19050"/>
                  </a:moveTo>
                  <a:lnTo>
                    <a:pt x="12083" y="9525"/>
                  </a:lnTo>
                  <a:lnTo>
                    <a:pt x="24166" y="9525"/>
                  </a:lnTo>
                  <a:lnTo>
                    <a:pt x="24166" y="2163830"/>
                  </a:lnTo>
                  <a:lnTo>
                    <a:pt x="12083" y="2163830"/>
                  </a:lnTo>
                  <a:lnTo>
                    <a:pt x="12083" y="2154305"/>
                  </a:lnTo>
                  <a:lnTo>
                    <a:pt x="10954692" y="2154305"/>
                  </a:lnTo>
                  <a:lnTo>
                    <a:pt x="10954692" y="2163830"/>
                  </a:lnTo>
                  <a:lnTo>
                    <a:pt x="10942609" y="2163830"/>
                  </a:lnTo>
                  <a:lnTo>
                    <a:pt x="10942609" y="9525"/>
                  </a:lnTo>
                  <a:lnTo>
                    <a:pt x="10954692" y="9525"/>
                  </a:lnTo>
                  <a:lnTo>
                    <a:pt x="10954692" y="19050"/>
                  </a:lnTo>
                  <a:lnTo>
                    <a:pt x="12083" y="190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0966710" cy="217340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879"/>
                </a:lnSpc>
              </a:pPr>
              <a:r>
                <a:rPr lang="en-US" sz="2400" spc="18">
                  <a:solidFill>
                    <a:srgbClr val="FFFFFF"/>
                  </a:solidFill>
                  <a:latin typeface="TT Phobos"/>
                  <a:ea typeface="TT Phobos"/>
                  <a:cs typeface="TT Phobos"/>
                  <a:sym typeface="TT Phobos"/>
                </a:rPr>
                <a:t>Lochana Charvi G    ENG23AM0039 </a:t>
              </a:r>
            </a:p>
            <a:p>
              <a:pPr algn="l">
                <a:lnSpc>
                  <a:spcPts val="2879"/>
                </a:lnSpc>
              </a:pPr>
              <a:r>
                <a:rPr lang="en-US" sz="2400" spc="18" dirty="0" err="1">
                  <a:solidFill>
                    <a:srgbClr val="FFFFFF"/>
                  </a:solidFill>
                  <a:latin typeface="TT Phobos"/>
                  <a:ea typeface="TT Phobos"/>
                  <a:cs typeface="TT Phobos"/>
                  <a:sym typeface="TT Phobos"/>
                </a:rPr>
                <a:t>Jayasundari</a:t>
              </a:r>
              <a:r>
                <a:rPr lang="en-US" sz="2400" spc="18" dirty="0">
                  <a:solidFill>
                    <a:srgbClr val="FFFFFF"/>
                  </a:solidFill>
                  <a:latin typeface="TT Phobos"/>
                  <a:ea typeface="TT Phobos"/>
                  <a:cs typeface="TT Phobos"/>
                  <a:sym typeface="TT Phobos"/>
                </a:rPr>
                <a:t>  K           ENG23AM0241  </a:t>
              </a:r>
            </a:p>
            <a:p>
              <a:pPr algn="l">
                <a:lnSpc>
                  <a:spcPts val="2879"/>
                </a:lnSpc>
              </a:pPr>
              <a:r>
                <a:rPr lang="en-US" sz="2400" spc="18" dirty="0">
                  <a:solidFill>
                    <a:srgbClr val="FFFFFF"/>
                  </a:solidFill>
                  <a:latin typeface="TT Phobos"/>
                  <a:ea typeface="TT Phobos"/>
                  <a:cs typeface="TT Phobos"/>
                  <a:sym typeface="TT Phobos"/>
                </a:rPr>
                <a:t>H D </a:t>
              </a:r>
              <a:r>
                <a:rPr lang="en-US" sz="2400" spc="18" dirty="0" err="1">
                  <a:solidFill>
                    <a:srgbClr val="FFFFFF"/>
                  </a:solidFill>
                  <a:latin typeface="TT Phobos"/>
                  <a:ea typeface="TT Phobos"/>
                  <a:cs typeface="TT Phobos"/>
                  <a:sym typeface="TT Phobos"/>
                </a:rPr>
                <a:t>ThimmaReddy</a:t>
              </a:r>
              <a:r>
                <a:rPr lang="en-US" sz="2400" spc="18" dirty="0">
                  <a:solidFill>
                    <a:srgbClr val="FFFFFF"/>
                  </a:solidFill>
                  <a:latin typeface="TT Phobos"/>
                  <a:ea typeface="TT Phobos"/>
                  <a:cs typeface="TT Phobos"/>
                  <a:sym typeface="TT Phobos"/>
                </a:rPr>
                <a:t>  ENG23AM0028                         </a:t>
              </a:r>
            </a:p>
            <a:p>
              <a:pPr algn="l">
                <a:lnSpc>
                  <a:spcPts val="2879"/>
                </a:lnSpc>
              </a:pPr>
              <a:r>
                <a:rPr lang="en-US" sz="2400" spc="18" dirty="0">
                  <a:solidFill>
                    <a:srgbClr val="FFFFFF"/>
                  </a:solidFill>
                  <a:latin typeface="TT Phobos"/>
                  <a:ea typeface="TT Phobos"/>
                  <a:cs typeface="TT Phobos"/>
                  <a:sym typeface="TT Phobos"/>
                </a:rPr>
                <a:t>Harikrishna H P        ENG23AM0029                        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53163" y="9374572"/>
            <a:ext cx="8963777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Academic Year: 2025-2026(Even Semester)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813" y="1117340"/>
            <a:ext cx="15773400" cy="1075430"/>
            <a:chOff x="0" y="0"/>
            <a:chExt cx="21031200" cy="1433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433900"/>
            </a:xfrm>
            <a:custGeom>
              <a:avLst/>
              <a:gdLst/>
              <a:ahLst/>
              <a:cxnLst/>
              <a:rect l="l" t="t" r="r" b="b"/>
              <a:pathLst>
                <a:path w="21031200" h="1433900">
                  <a:moveTo>
                    <a:pt x="0" y="0"/>
                  </a:moveTo>
                  <a:lnTo>
                    <a:pt x="21031200" y="0"/>
                  </a:lnTo>
                  <a:lnTo>
                    <a:pt x="21031200" y="1433900"/>
                  </a:lnTo>
                  <a:lnTo>
                    <a:pt x="0" y="143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5789" b="-23578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1031200" cy="13862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 spc="33">
                  <a:solidFill>
                    <a:srgbClr val="00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Contents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82970" y="1973342"/>
            <a:ext cx="15590520" cy="638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 spc="28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Aim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 spc="28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Objectives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 spc="28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Methodology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 spc="28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References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5441" y="229762"/>
            <a:ext cx="3349257" cy="1075430"/>
            <a:chOff x="0" y="0"/>
            <a:chExt cx="4465676" cy="1433906"/>
          </a:xfrm>
        </p:grpSpPr>
        <p:sp>
          <p:nvSpPr>
            <p:cNvPr id="7" name="Freeform 7" descr="School of Commerce &amp; Management, Dayananda Sagar University, Bangalore"/>
            <p:cNvSpPr/>
            <p:nvPr/>
          </p:nvSpPr>
          <p:spPr>
            <a:xfrm>
              <a:off x="0" y="0"/>
              <a:ext cx="4465701" cy="1433957"/>
            </a:xfrm>
            <a:custGeom>
              <a:avLst/>
              <a:gdLst/>
              <a:ahLst/>
              <a:cxnLst/>
              <a:rect l="l" t="t" r="r" b="b"/>
              <a:pathLst>
                <a:path w="4465701" h="1433957">
                  <a:moveTo>
                    <a:pt x="0" y="0"/>
                  </a:moveTo>
                  <a:lnTo>
                    <a:pt x="4465701" y="0"/>
                  </a:lnTo>
                  <a:lnTo>
                    <a:pt x="4465701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017143" y="229762"/>
            <a:ext cx="3521145" cy="1075430"/>
            <a:chOff x="0" y="0"/>
            <a:chExt cx="4694860" cy="1433906"/>
          </a:xfrm>
        </p:grpSpPr>
        <p:sp>
          <p:nvSpPr>
            <p:cNvPr id="9" name="Freeform 9" descr="DAYANANDA SAGAR UNIVERSITY SCHOOL OF ENGINEERING SCHEME &amp; SYLLABUS FOR  BACHELOR OF TECHNOLOGY (B.Tech.) – 2020 COMPUTER SC"/>
            <p:cNvSpPr/>
            <p:nvPr/>
          </p:nvSpPr>
          <p:spPr>
            <a:xfrm>
              <a:off x="0" y="0"/>
              <a:ext cx="4694809" cy="1433957"/>
            </a:xfrm>
            <a:custGeom>
              <a:avLst/>
              <a:gdLst/>
              <a:ahLst/>
              <a:cxnLst/>
              <a:rect l="l" t="t" r="r" b="b"/>
              <a:pathLst>
                <a:path w="4694809" h="1433957">
                  <a:moveTo>
                    <a:pt x="0" y="0"/>
                  </a:moveTo>
                  <a:lnTo>
                    <a:pt x="4694809" y="0"/>
                  </a:lnTo>
                  <a:lnTo>
                    <a:pt x="4694809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647970" y="128387"/>
            <a:ext cx="1760410" cy="1259957"/>
            <a:chOff x="0" y="0"/>
            <a:chExt cx="2347214" cy="1679943"/>
          </a:xfrm>
        </p:grpSpPr>
        <p:sp>
          <p:nvSpPr>
            <p:cNvPr id="11" name="Freeform 11" descr="Dayananda Sagar University"/>
            <p:cNvSpPr/>
            <p:nvPr/>
          </p:nvSpPr>
          <p:spPr>
            <a:xfrm>
              <a:off x="0" y="0"/>
              <a:ext cx="2347214" cy="1679956"/>
            </a:xfrm>
            <a:custGeom>
              <a:avLst/>
              <a:gdLst/>
              <a:ahLst/>
              <a:cxnLst/>
              <a:rect l="l" t="t" r="r" b="b"/>
              <a:pathLst>
                <a:path w="2347214" h="1679956">
                  <a:moveTo>
                    <a:pt x="0" y="0"/>
                  </a:moveTo>
                  <a:lnTo>
                    <a:pt x="2347214" y="0"/>
                  </a:lnTo>
                  <a:lnTo>
                    <a:pt x="2347214" y="1679956"/>
                  </a:lnTo>
                  <a:lnTo>
                    <a:pt x="0" y="1679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311" t="-11156" r="-9532" b="-1442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58646" y="128387"/>
            <a:ext cx="1053922" cy="1075430"/>
            <a:chOff x="0" y="0"/>
            <a:chExt cx="1405230" cy="14339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05255" cy="1433957"/>
            </a:xfrm>
            <a:custGeom>
              <a:avLst/>
              <a:gdLst/>
              <a:ahLst/>
              <a:cxnLst/>
              <a:rect l="l" t="t" r="r" b="b"/>
              <a:pathLst>
                <a:path w="1405255" h="1433957">
                  <a:moveTo>
                    <a:pt x="0" y="0"/>
                  </a:moveTo>
                  <a:lnTo>
                    <a:pt x="1405255" y="0"/>
                  </a:lnTo>
                  <a:lnTo>
                    <a:pt x="1405255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5" r="1" b="-6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1031200" cy="2603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 spc="33">
                  <a:solidFill>
                    <a:srgbClr val="00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AIM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57300" y="2583657"/>
            <a:ext cx="15532725" cy="637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638" lvl="1" indent="-324319" algn="just">
              <a:lnSpc>
                <a:spcPts val="3873"/>
              </a:lnSpc>
              <a:buFont typeface="Arial"/>
              <a:buChar char="•"/>
            </a:pPr>
            <a:r>
              <a:rPr lang="en-US" sz="3586" spc="25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build an intelligent document chatbot using RAG and Generative AI.</a:t>
            </a:r>
          </a:p>
          <a:p>
            <a:pPr marL="648638" lvl="1" indent="-324319" algn="just">
              <a:lnSpc>
                <a:spcPts val="3873"/>
              </a:lnSpc>
              <a:buFont typeface="Arial"/>
              <a:buChar char="•"/>
            </a:pPr>
            <a:r>
              <a:rPr lang="en-US" sz="3586" spc="25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allow users to upload documents and ask questions in natural language.</a:t>
            </a:r>
          </a:p>
          <a:p>
            <a:pPr marL="648638" lvl="1" indent="-324319" algn="just">
              <a:lnSpc>
                <a:spcPts val="3873"/>
              </a:lnSpc>
              <a:buFont typeface="Arial"/>
              <a:buChar char="•"/>
            </a:pPr>
            <a:r>
              <a:rPr lang="en-US" sz="3586" spc="25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extract meaningful information from different document formats.</a:t>
            </a:r>
          </a:p>
          <a:p>
            <a:pPr marL="648638" lvl="1" indent="-324319" algn="just">
              <a:lnSpc>
                <a:spcPts val="3873"/>
              </a:lnSpc>
              <a:buFont typeface="Arial"/>
              <a:buChar char="•"/>
            </a:pPr>
            <a:r>
              <a:rPr lang="en-US" sz="3586" spc="25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retrieve relevant content using semantic search techniques.</a:t>
            </a:r>
          </a:p>
          <a:p>
            <a:pPr marL="648638" lvl="1" indent="-324319" algn="just">
              <a:lnSpc>
                <a:spcPts val="3873"/>
              </a:lnSpc>
              <a:buFont typeface="Arial"/>
              <a:buChar char="•"/>
            </a:pPr>
            <a:r>
              <a:rPr lang="en-US" sz="3586" spc="25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generate accurate and context-aware answers using large language models.</a:t>
            </a:r>
          </a:p>
          <a:p>
            <a:pPr marL="648638" lvl="1" indent="-324319" algn="just">
              <a:lnSpc>
                <a:spcPts val="3873"/>
              </a:lnSpc>
              <a:buFont typeface="Arial"/>
              <a:buChar char="•"/>
            </a:pPr>
            <a:r>
              <a:rPr lang="en-US" sz="3586" spc="25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improve accessibility to document-based knowledge.</a:t>
            </a:r>
          </a:p>
          <a:p>
            <a:pPr marL="648638" lvl="1" indent="-324319" algn="just">
              <a:lnSpc>
                <a:spcPts val="3873"/>
              </a:lnSpc>
              <a:buFont typeface="Arial"/>
              <a:buChar char="•"/>
            </a:pPr>
            <a:r>
              <a:rPr lang="en-US" sz="3586" spc="25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reduce manual effort in searching through large documents.</a:t>
            </a:r>
          </a:p>
          <a:p>
            <a:pPr marL="648638" lvl="1" indent="-324319" algn="just">
              <a:lnSpc>
                <a:spcPts val="3873"/>
              </a:lnSpc>
              <a:buFont typeface="Arial"/>
              <a:buChar char="•"/>
            </a:pPr>
            <a:r>
              <a:rPr lang="en-US" sz="3586" spc="25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provide a scalable and user-friendly AI-powered system</a:t>
            </a:r>
          </a:p>
          <a:p>
            <a:pPr algn="just">
              <a:lnSpc>
                <a:spcPts val="3873"/>
              </a:lnSpc>
            </a:pPr>
            <a:endParaRPr lang="en-US" sz="3586" spc="25">
              <a:solidFill>
                <a:srgbClr val="000000"/>
              </a:solidFill>
              <a:latin typeface="TT Phobos"/>
              <a:ea typeface="TT Phobos"/>
              <a:cs typeface="TT Phobos"/>
              <a:sym typeface="TT Phobo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5441" y="229762"/>
            <a:ext cx="3349257" cy="1075430"/>
            <a:chOff x="0" y="0"/>
            <a:chExt cx="4465676" cy="1433906"/>
          </a:xfrm>
        </p:grpSpPr>
        <p:sp>
          <p:nvSpPr>
            <p:cNvPr id="7" name="Freeform 7" descr="School of Commerce &amp; Management, Dayananda Sagar University, Bangalore"/>
            <p:cNvSpPr/>
            <p:nvPr/>
          </p:nvSpPr>
          <p:spPr>
            <a:xfrm>
              <a:off x="0" y="0"/>
              <a:ext cx="4465701" cy="1433957"/>
            </a:xfrm>
            <a:custGeom>
              <a:avLst/>
              <a:gdLst/>
              <a:ahLst/>
              <a:cxnLst/>
              <a:rect l="l" t="t" r="r" b="b"/>
              <a:pathLst>
                <a:path w="4465701" h="1433957">
                  <a:moveTo>
                    <a:pt x="0" y="0"/>
                  </a:moveTo>
                  <a:lnTo>
                    <a:pt x="4465701" y="0"/>
                  </a:lnTo>
                  <a:lnTo>
                    <a:pt x="4465701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017143" y="229762"/>
            <a:ext cx="3521145" cy="1075430"/>
            <a:chOff x="0" y="0"/>
            <a:chExt cx="4694860" cy="1433906"/>
          </a:xfrm>
        </p:grpSpPr>
        <p:sp>
          <p:nvSpPr>
            <p:cNvPr id="9" name="Freeform 9" descr="DAYANANDA SAGAR UNIVERSITY SCHOOL OF ENGINEERING SCHEME &amp; SYLLABUS FOR  BACHELOR OF TECHNOLOGY (B.Tech.) – 2020 COMPUTER SC"/>
            <p:cNvSpPr/>
            <p:nvPr/>
          </p:nvSpPr>
          <p:spPr>
            <a:xfrm>
              <a:off x="0" y="0"/>
              <a:ext cx="4694809" cy="1433957"/>
            </a:xfrm>
            <a:custGeom>
              <a:avLst/>
              <a:gdLst/>
              <a:ahLst/>
              <a:cxnLst/>
              <a:rect l="l" t="t" r="r" b="b"/>
              <a:pathLst>
                <a:path w="4694809" h="1433957">
                  <a:moveTo>
                    <a:pt x="0" y="0"/>
                  </a:moveTo>
                  <a:lnTo>
                    <a:pt x="4694809" y="0"/>
                  </a:lnTo>
                  <a:lnTo>
                    <a:pt x="4694809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647970" y="128387"/>
            <a:ext cx="1760410" cy="1259957"/>
            <a:chOff x="0" y="0"/>
            <a:chExt cx="2347214" cy="1679943"/>
          </a:xfrm>
        </p:grpSpPr>
        <p:sp>
          <p:nvSpPr>
            <p:cNvPr id="11" name="Freeform 11" descr="Dayananda Sagar University"/>
            <p:cNvSpPr/>
            <p:nvPr/>
          </p:nvSpPr>
          <p:spPr>
            <a:xfrm>
              <a:off x="0" y="0"/>
              <a:ext cx="2347214" cy="1679956"/>
            </a:xfrm>
            <a:custGeom>
              <a:avLst/>
              <a:gdLst/>
              <a:ahLst/>
              <a:cxnLst/>
              <a:rect l="l" t="t" r="r" b="b"/>
              <a:pathLst>
                <a:path w="2347214" h="1679956">
                  <a:moveTo>
                    <a:pt x="0" y="0"/>
                  </a:moveTo>
                  <a:lnTo>
                    <a:pt x="2347214" y="0"/>
                  </a:lnTo>
                  <a:lnTo>
                    <a:pt x="2347214" y="1679956"/>
                  </a:lnTo>
                  <a:lnTo>
                    <a:pt x="0" y="1679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311" t="-11156" r="-9532" b="-1442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58646" y="128387"/>
            <a:ext cx="1053922" cy="1075430"/>
            <a:chOff x="0" y="0"/>
            <a:chExt cx="1405230" cy="14339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05255" cy="1433957"/>
            </a:xfrm>
            <a:custGeom>
              <a:avLst/>
              <a:gdLst/>
              <a:ahLst/>
              <a:cxnLst/>
              <a:rect l="l" t="t" r="r" b="b"/>
              <a:pathLst>
                <a:path w="1405255" h="1433957">
                  <a:moveTo>
                    <a:pt x="0" y="0"/>
                  </a:moveTo>
                  <a:lnTo>
                    <a:pt x="1405255" y="0"/>
                  </a:lnTo>
                  <a:lnTo>
                    <a:pt x="1405255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5" r="1" b="-6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2372" y="1617831"/>
            <a:ext cx="15773400" cy="807968"/>
            <a:chOff x="0" y="0"/>
            <a:chExt cx="21031200" cy="1077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077284"/>
            </a:xfrm>
            <a:custGeom>
              <a:avLst/>
              <a:gdLst/>
              <a:ahLst/>
              <a:cxnLst/>
              <a:rect l="l" t="t" r="r" b="b"/>
              <a:pathLst>
                <a:path w="21031200" h="1077284">
                  <a:moveTo>
                    <a:pt x="0" y="0"/>
                  </a:moveTo>
                  <a:lnTo>
                    <a:pt x="21031200" y="0"/>
                  </a:lnTo>
                  <a:lnTo>
                    <a:pt x="21031200" y="1077284"/>
                  </a:lnTo>
                  <a:lnTo>
                    <a:pt x="0" y="10772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0394" b="-33039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1031200" cy="1029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 spc="33" dirty="0">
                  <a:solidFill>
                    <a:srgbClr val="00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Objectives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453955"/>
            <a:ext cx="16556907" cy="497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458" lvl="1" indent="-332229" algn="just">
              <a:lnSpc>
                <a:spcPts val="3968"/>
              </a:lnSpc>
              <a:buFont typeface="Arial"/>
              <a:buChar char="•"/>
            </a:pPr>
            <a:r>
              <a:rPr lang="en-US" sz="3674" spc="25" dirty="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develop a RAG-based intelligent chatbot that efficiently retrieves relevant information from uploaded documents using semantic search techniques.</a:t>
            </a:r>
          </a:p>
          <a:p>
            <a:pPr marL="664458" lvl="1" indent="-332229" algn="just">
              <a:lnSpc>
                <a:spcPts val="3968"/>
              </a:lnSpc>
              <a:buFont typeface="Arial"/>
              <a:buChar char="•"/>
            </a:pPr>
            <a:r>
              <a:rPr lang="en-US" sz="3674" spc="25" dirty="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generate accurate and context-aware answers by integrating retrieved document content with Generative AI and Large Language Models.</a:t>
            </a:r>
          </a:p>
          <a:p>
            <a:pPr marL="664458" lvl="1" indent="-332229" algn="just">
              <a:lnSpc>
                <a:spcPts val="3968"/>
              </a:lnSpc>
              <a:buFont typeface="Arial"/>
              <a:buChar char="•"/>
            </a:pPr>
            <a:r>
              <a:rPr lang="en-US" sz="3674" spc="25" dirty="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To design a simple and user-friendly interface that allows users to upload documents and interact with the chatbot easily for quick information access.</a:t>
            </a:r>
          </a:p>
          <a:p>
            <a:pPr algn="just">
              <a:lnSpc>
                <a:spcPts val="3968"/>
              </a:lnSpc>
            </a:pPr>
            <a:endParaRPr lang="en-US" sz="3674" spc="25" dirty="0">
              <a:solidFill>
                <a:srgbClr val="000000"/>
              </a:solidFill>
              <a:latin typeface="TT Phobos"/>
              <a:ea typeface="TT Phobos"/>
              <a:cs typeface="TT Phobos"/>
              <a:sym typeface="TT Phobo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5441" y="229762"/>
            <a:ext cx="3349257" cy="1075430"/>
            <a:chOff x="0" y="0"/>
            <a:chExt cx="4465676" cy="1433906"/>
          </a:xfrm>
        </p:grpSpPr>
        <p:sp>
          <p:nvSpPr>
            <p:cNvPr id="7" name="Freeform 7" descr="School of Commerce &amp; Management, Dayananda Sagar University, Bangalore"/>
            <p:cNvSpPr/>
            <p:nvPr/>
          </p:nvSpPr>
          <p:spPr>
            <a:xfrm>
              <a:off x="0" y="0"/>
              <a:ext cx="4465701" cy="1433957"/>
            </a:xfrm>
            <a:custGeom>
              <a:avLst/>
              <a:gdLst/>
              <a:ahLst/>
              <a:cxnLst/>
              <a:rect l="l" t="t" r="r" b="b"/>
              <a:pathLst>
                <a:path w="4465701" h="1433957">
                  <a:moveTo>
                    <a:pt x="0" y="0"/>
                  </a:moveTo>
                  <a:lnTo>
                    <a:pt x="4465701" y="0"/>
                  </a:lnTo>
                  <a:lnTo>
                    <a:pt x="4465701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017143" y="229762"/>
            <a:ext cx="3521145" cy="1075430"/>
            <a:chOff x="0" y="0"/>
            <a:chExt cx="4694860" cy="1433906"/>
          </a:xfrm>
        </p:grpSpPr>
        <p:sp>
          <p:nvSpPr>
            <p:cNvPr id="9" name="Freeform 9" descr="DAYANANDA SAGAR UNIVERSITY SCHOOL OF ENGINEERING SCHEME &amp; SYLLABUS FOR  BACHELOR OF TECHNOLOGY (B.Tech.) – 2020 COMPUTER SC"/>
            <p:cNvSpPr/>
            <p:nvPr/>
          </p:nvSpPr>
          <p:spPr>
            <a:xfrm>
              <a:off x="0" y="0"/>
              <a:ext cx="4694809" cy="1433957"/>
            </a:xfrm>
            <a:custGeom>
              <a:avLst/>
              <a:gdLst/>
              <a:ahLst/>
              <a:cxnLst/>
              <a:rect l="l" t="t" r="r" b="b"/>
              <a:pathLst>
                <a:path w="4694809" h="1433957">
                  <a:moveTo>
                    <a:pt x="0" y="0"/>
                  </a:moveTo>
                  <a:lnTo>
                    <a:pt x="4694809" y="0"/>
                  </a:lnTo>
                  <a:lnTo>
                    <a:pt x="4694809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647970" y="128387"/>
            <a:ext cx="1760410" cy="1259957"/>
            <a:chOff x="0" y="0"/>
            <a:chExt cx="2347214" cy="1679943"/>
          </a:xfrm>
        </p:grpSpPr>
        <p:sp>
          <p:nvSpPr>
            <p:cNvPr id="11" name="Freeform 11" descr="Dayananda Sagar University"/>
            <p:cNvSpPr/>
            <p:nvPr/>
          </p:nvSpPr>
          <p:spPr>
            <a:xfrm>
              <a:off x="0" y="0"/>
              <a:ext cx="2347214" cy="1679956"/>
            </a:xfrm>
            <a:custGeom>
              <a:avLst/>
              <a:gdLst/>
              <a:ahLst/>
              <a:cxnLst/>
              <a:rect l="l" t="t" r="r" b="b"/>
              <a:pathLst>
                <a:path w="2347214" h="1679956">
                  <a:moveTo>
                    <a:pt x="0" y="0"/>
                  </a:moveTo>
                  <a:lnTo>
                    <a:pt x="2347214" y="0"/>
                  </a:lnTo>
                  <a:lnTo>
                    <a:pt x="2347214" y="1679956"/>
                  </a:lnTo>
                  <a:lnTo>
                    <a:pt x="0" y="1679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311" t="-11156" r="-9532" b="-1442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58646" y="128387"/>
            <a:ext cx="1053922" cy="1075430"/>
            <a:chOff x="0" y="0"/>
            <a:chExt cx="1405230" cy="14339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05255" cy="1433957"/>
            </a:xfrm>
            <a:custGeom>
              <a:avLst/>
              <a:gdLst/>
              <a:ahLst/>
              <a:cxnLst/>
              <a:rect l="l" t="t" r="r" b="b"/>
              <a:pathLst>
                <a:path w="1405255" h="1433957">
                  <a:moveTo>
                    <a:pt x="0" y="0"/>
                  </a:moveTo>
                  <a:lnTo>
                    <a:pt x="1405255" y="0"/>
                  </a:lnTo>
                  <a:lnTo>
                    <a:pt x="1405255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5" r="1" b="-6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1031200" cy="2603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 spc="33">
                  <a:solidFill>
                    <a:srgbClr val="00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Methodology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27015" y="2152740"/>
            <a:ext cx="11020955" cy="790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4599" lvl="1" indent="-312299" algn="just">
              <a:lnSpc>
                <a:spcPts val="3730"/>
              </a:lnSpc>
              <a:buFont typeface="Arial"/>
              <a:buChar char="•"/>
            </a:pPr>
            <a:r>
              <a:rPr lang="en-US" sz="3453" spc="24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Upload documents (PDF, DOCX, TXT) into the system.</a:t>
            </a:r>
          </a:p>
          <a:p>
            <a:pPr marL="624599" lvl="1" indent="-312299" algn="just">
              <a:lnSpc>
                <a:spcPts val="3730"/>
              </a:lnSpc>
              <a:buFont typeface="Arial"/>
              <a:buChar char="•"/>
            </a:pPr>
            <a:r>
              <a:rPr lang="en-US" sz="3453" spc="24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Extract and preprocess text from the uploaded documents.</a:t>
            </a:r>
          </a:p>
          <a:p>
            <a:pPr marL="624599" lvl="1" indent="-312299" algn="just">
              <a:lnSpc>
                <a:spcPts val="3730"/>
              </a:lnSpc>
              <a:buFont typeface="Arial"/>
              <a:buChar char="•"/>
            </a:pPr>
            <a:r>
              <a:rPr lang="en-US" sz="3453" spc="24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Convert text chunks into embeddings using an embedding model.</a:t>
            </a:r>
          </a:p>
          <a:p>
            <a:pPr marL="624599" lvl="1" indent="-312299" algn="just">
              <a:lnSpc>
                <a:spcPts val="3730"/>
              </a:lnSpc>
              <a:buFont typeface="Arial"/>
              <a:buChar char="•"/>
            </a:pPr>
            <a:r>
              <a:rPr lang="en-US" sz="3453" spc="24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Store embeddings in a vector database for semantic search.</a:t>
            </a:r>
          </a:p>
          <a:p>
            <a:pPr marL="624599" lvl="1" indent="-312299" algn="just">
              <a:lnSpc>
                <a:spcPts val="3730"/>
              </a:lnSpc>
              <a:buFont typeface="Arial"/>
              <a:buChar char="•"/>
            </a:pPr>
            <a:r>
              <a:rPr lang="en-US" sz="3453" spc="24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Accept user queries in natural language.</a:t>
            </a:r>
          </a:p>
          <a:p>
            <a:pPr marL="624599" lvl="1" indent="-312299" algn="just">
              <a:lnSpc>
                <a:spcPts val="3730"/>
              </a:lnSpc>
              <a:buFont typeface="Arial"/>
              <a:buChar char="•"/>
            </a:pPr>
            <a:r>
              <a:rPr lang="en-US" sz="3453" spc="24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Retrieve the most relevant document chunks from the vector database.</a:t>
            </a:r>
          </a:p>
          <a:p>
            <a:pPr marL="624599" lvl="1" indent="-312299" algn="just">
              <a:lnSpc>
                <a:spcPts val="3730"/>
              </a:lnSpc>
              <a:buFont typeface="Arial"/>
              <a:buChar char="•"/>
            </a:pPr>
            <a:r>
              <a:rPr lang="en-US" sz="3453" spc="24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Generate answers using the RAG framework by combining retrieved content with a Large Language Model.</a:t>
            </a:r>
          </a:p>
          <a:p>
            <a:pPr marL="624599" lvl="1" indent="-312299" algn="just">
              <a:lnSpc>
                <a:spcPts val="3730"/>
              </a:lnSpc>
              <a:buFont typeface="Arial"/>
              <a:buChar char="•"/>
            </a:pPr>
            <a:r>
              <a:rPr lang="en-US" sz="3453" spc="24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Display chatbot responses and evaluate performance for accuracy and relevance.</a:t>
            </a:r>
          </a:p>
          <a:p>
            <a:pPr algn="just">
              <a:lnSpc>
                <a:spcPts val="3298"/>
              </a:lnSpc>
            </a:pPr>
            <a:endParaRPr lang="en-US" sz="3453" spc="24">
              <a:solidFill>
                <a:srgbClr val="000000"/>
              </a:solidFill>
              <a:latin typeface="TT Phobos"/>
              <a:ea typeface="TT Phobos"/>
              <a:cs typeface="TT Phobos"/>
              <a:sym typeface="TT Phobo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5441" y="229762"/>
            <a:ext cx="3349257" cy="1075430"/>
            <a:chOff x="0" y="0"/>
            <a:chExt cx="4465676" cy="1433906"/>
          </a:xfrm>
        </p:grpSpPr>
        <p:sp>
          <p:nvSpPr>
            <p:cNvPr id="7" name="Freeform 7" descr="School of Commerce &amp; Management, Dayananda Sagar University, Bangalore"/>
            <p:cNvSpPr/>
            <p:nvPr/>
          </p:nvSpPr>
          <p:spPr>
            <a:xfrm>
              <a:off x="0" y="0"/>
              <a:ext cx="4465701" cy="1433957"/>
            </a:xfrm>
            <a:custGeom>
              <a:avLst/>
              <a:gdLst/>
              <a:ahLst/>
              <a:cxnLst/>
              <a:rect l="l" t="t" r="r" b="b"/>
              <a:pathLst>
                <a:path w="4465701" h="1433957">
                  <a:moveTo>
                    <a:pt x="0" y="0"/>
                  </a:moveTo>
                  <a:lnTo>
                    <a:pt x="4465701" y="0"/>
                  </a:lnTo>
                  <a:lnTo>
                    <a:pt x="4465701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017143" y="229762"/>
            <a:ext cx="3521145" cy="1075430"/>
            <a:chOff x="0" y="0"/>
            <a:chExt cx="4694860" cy="1433906"/>
          </a:xfrm>
        </p:grpSpPr>
        <p:sp>
          <p:nvSpPr>
            <p:cNvPr id="9" name="Freeform 9" descr="DAYANANDA SAGAR UNIVERSITY SCHOOL OF ENGINEERING SCHEME &amp; SYLLABUS FOR  BACHELOR OF TECHNOLOGY (B.Tech.) – 2020 COMPUTER SC"/>
            <p:cNvSpPr/>
            <p:nvPr/>
          </p:nvSpPr>
          <p:spPr>
            <a:xfrm>
              <a:off x="0" y="0"/>
              <a:ext cx="4694809" cy="1433957"/>
            </a:xfrm>
            <a:custGeom>
              <a:avLst/>
              <a:gdLst/>
              <a:ahLst/>
              <a:cxnLst/>
              <a:rect l="l" t="t" r="r" b="b"/>
              <a:pathLst>
                <a:path w="4694809" h="1433957">
                  <a:moveTo>
                    <a:pt x="0" y="0"/>
                  </a:moveTo>
                  <a:lnTo>
                    <a:pt x="4694809" y="0"/>
                  </a:lnTo>
                  <a:lnTo>
                    <a:pt x="4694809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647970" y="128387"/>
            <a:ext cx="1760410" cy="1259957"/>
            <a:chOff x="0" y="0"/>
            <a:chExt cx="2347214" cy="1679943"/>
          </a:xfrm>
        </p:grpSpPr>
        <p:sp>
          <p:nvSpPr>
            <p:cNvPr id="11" name="Freeform 11" descr="Dayananda Sagar University"/>
            <p:cNvSpPr/>
            <p:nvPr/>
          </p:nvSpPr>
          <p:spPr>
            <a:xfrm>
              <a:off x="0" y="0"/>
              <a:ext cx="2347214" cy="1679956"/>
            </a:xfrm>
            <a:custGeom>
              <a:avLst/>
              <a:gdLst/>
              <a:ahLst/>
              <a:cxnLst/>
              <a:rect l="l" t="t" r="r" b="b"/>
              <a:pathLst>
                <a:path w="2347214" h="1679956">
                  <a:moveTo>
                    <a:pt x="0" y="0"/>
                  </a:moveTo>
                  <a:lnTo>
                    <a:pt x="2347214" y="0"/>
                  </a:lnTo>
                  <a:lnTo>
                    <a:pt x="2347214" y="1679956"/>
                  </a:lnTo>
                  <a:lnTo>
                    <a:pt x="0" y="1679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311" t="-11156" r="-9532" b="-1442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58646" y="128387"/>
            <a:ext cx="1053922" cy="1075430"/>
            <a:chOff x="0" y="0"/>
            <a:chExt cx="1405230" cy="14339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05255" cy="1433957"/>
            </a:xfrm>
            <a:custGeom>
              <a:avLst/>
              <a:gdLst/>
              <a:ahLst/>
              <a:cxnLst/>
              <a:rect l="l" t="t" r="r" b="b"/>
              <a:pathLst>
                <a:path w="1405255" h="1433957">
                  <a:moveTo>
                    <a:pt x="0" y="0"/>
                  </a:moveTo>
                  <a:lnTo>
                    <a:pt x="1405255" y="0"/>
                  </a:lnTo>
                  <a:lnTo>
                    <a:pt x="1405255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5" r="1" b="-61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2174948" y="1388345"/>
            <a:ext cx="5928729" cy="8898655"/>
          </a:xfrm>
          <a:custGeom>
            <a:avLst/>
            <a:gdLst/>
            <a:ahLst/>
            <a:cxnLst/>
            <a:rect l="l" t="t" r="r" b="b"/>
            <a:pathLst>
              <a:path w="5928729" h="8898655">
                <a:moveTo>
                  <a:pt x="0" y="0"/>
                </a:moveTo>
                <a:lnTo>
                  <a:pt x="5928729" y="0"/>
                </a:lnTo>
                <a:lnTo>
                  <a:pt x="5928729" y="8898655"/>
                </a:lnTo>
                <a:lnTo>
                  <a:pt x="0" y="88986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1031200" cy="2603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b="1" spc="33">
                  <a:solidFill>
                    <a:srgbClr val="00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References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14234" y="2291094"/>
            <a:ext cx="17259533" cy="722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[1] P. Lewis et al., “Retrieval-Augmented Generation for Knowledge-Intensive NLP Tasks,” Advances in Neural Information Processing Systems (NeurIPS), 2020.</a:t>
            </a:r>
          </a:p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[2] A. Vaswani et al., “Attention Is All You Need,” in Proc. Advances in Neural Information Processing Systems (NeurIPS), 2017.</a:t>
            </a:r>
          </a:p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[3] V. Karpukhin et al., “Dense Passage Retrieval for Open-Domain Question Answering,” in Proc. EMNLP, 2020.</a:t>
            </a:r>
          </a:p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[4] T. Brown et al., “Language Models are Few-Shot Learners,” OpenAI Technical Report, 2020.</a:t>
            </a:r>
          </a:p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[5] OpenAI, “GPT-4 Technical Report,” 2024.</a:t>
            </a:r>
          </a:p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[6] H. Chase, “LangChain: Building Applications with Large Language Models,” 2024.</a:t>
            </a:r>
          </a:p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[7] J. Johnson et al., “FAISS: A Library for Efficient Similarity Search and Clustering of Dense Vectors,” IEEE Transactions on Big Data, 2019.</a:t>
            </a:r>
          </a:p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[8][T. Wolf et al., “Transformers: State-of-the-Art Natural Language Processing,” Hugging Face, 2020.</a:t>
            </a:r>
          </a:p>
          <a:p>
            <a:pPr marL="540567" lvl="1" indent="-270283" algn="l">
              <a:lnSpc>
                <a:spcPts val="3228"/>
              </a:lnSpc>
              <a:buFont typeface="Arial"/>
              <a:buChar char="•"/>
            </a:pPr>
            <a:r>
              <a:rPr lang="en-US" sz="2989" spc="20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[9] A. Radford et al., “Improving Language Understanding by Generative Pre-training,” OpenAI, 2018.</a:t>
            </a:r>
          </a:p>
          <a:p>
            <a:pPr marL="540947" lvl="1" indent="-270473" algn="l">
              <a:lnSpc>
                <a:spcPts val="3228"/>
              </a:lnSpc>
              <a:buFont typeface="Arial"/>
              <a:buChar char="•"/>
            </a:pPr>
            <a:r>
              <a:rPr lang="en-US" sz="2989" spc="23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[10] X. Zhang et al., “Semantic Search with Vector Embeddings for Document Retrieval,” IEEE Access, 2021.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5441" y="229762"/>
            <a:ext cx="3349257" cy="1075430"/>
            <a:chOff x="0" y="0"/>
            <a:chExt cx="4465676" cy="1433906"/>
          </a:xfrm>
        </p:grpSpPr>
        <p:sp>
          <p:nvSpPr>
            <p:cNvPr id="7" name="Freeform 7" descr="School of Commerce &amp; Management, Dayananda Sagar University, Bangalore"/>
            <p:cNvSpPr/>
            <p:nvPr/>
          </p:nvSpPr>
          <p:spPr>
            <a:xfrm>
              <a:off x="0" y="0"/>
              <a:ext cx="4465701" cy="1433957"/>
            </a:xfrm>
            <a:custGeom>
              <a:avLst/>
              <a:gdLst/>
              <a:ahLst/>
              <a:cxnLst/>
              <a:rect l="l" t="t" r="r" b="b"/>
              <a:pathLst>
                <a:path w="4465701" h="1433957">
                  <a:moveTo>
                    <a:pt x="0" y="0"/>
                  </a:moveTo>
                  <a:lnTo>
                    <a:pt x="4465701" y="0"/>
                  </a:lnTo>
                  <a:lnTo>
                    <a:pt x="4465701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" b="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017143" y="229762"/>
            <a:ext cx="3521145" cy="1075430"/>
            <a:chOff x="0" y="0"/>
            <a:chExt cx="4694860" cy="1433906"/>
          </a:xfrm>
        </p:grpSpPr>
        <p:sp>
          <p:nvSpPr>
            <p:cNvPr id="9" name="Freeform 9" descr="DAYANANDA SAGAR UNIVERSITY SCHOOL OF ENGINEERING SCHEME &amp; SYLLABUS FOR  BACHELOR OF TECHNOLOGY (B.Tech.) – 2020 COMPUTER SC"/>
            <p:cNvSpPr/>
            <p:nvPr/>
          </p:nvSpPr>
          <p:spPr>
            <a:xfrm>
              <a:off x="0" y="0"/>
              <a:ext cx="4694809" cy="1433957"/>
            </a:xfrm>
            <a:custGeom>
              <a:avLst/>
              <a:gdLst/>
              <a:ahLst/>
              <a:cxnLst/>
              <a:rect l="l" t="t" r="r" b="b"/>
              <a:pathLst>
                <a:path w="4694809" h="1433957">
                  <a:moveTo>
                    <a:pt x="0" y="0"/>
                  </a:moveTo>
                  <a:lnTo>
                    <a:pt x="4694809" y="0"/>
                  </a:lnTo>
                  <a:lnTo>
                    <a:pt x="4694809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647970" y="128387"/>
            <a:ext cx="1760410" cy="1259957"/>
            <a:chOff x="0" y="0"/>
            <a:chExt cx="2347214" cy="1679943"/>
          </a:xfrm>
        </p:grpSpPr>
        <p:sp>
          <p:nvSpPr>
            <p:cNvPr id="11" name="Freeform 11" descr="Dayananda Sagar University"/>
            <p:cNvSpPr/>
            <p:nvPr/>
          </p:nvSpPr>
          <p:spPr>
            <a:xfrm>
              <a:off x="0" y="0"/>
              <a:ext cx="2347214" cy="1679956"/>
            </a:xfrm>
            <a:custGeom>
              <a:avLst/>
              <a:gdLst/>
              <a:ahLst/>
              <a:cxnLst/>
              <a:rect l="l" t="t" r="r" b="b"/>
              <a:pathLst>
                <a:path w="2347214" h="1679956">
                  <a:moveTo>
                    <a:pt x="0" y="0"/>
                  </a:moveTo>
                  <a:lnTo>
                    <a:pt x="2347214" y="0"/>
                  </a:lnTo>
                  <a:lnTo>
                    <a:pt x="2347214" y="1679956"/>
                  </a:lnTo>
                  <a:lnTo>
                    <a:pt x="0" y="1679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311" t="-11156" r="-9532" b="-1442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58646" y="128387"/>
            <a:ext cx="1053922" cy="1075430"/>
            <a:chOff x="0" y="0"/>
            <a:chExt cx="1405230" cy="14339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05255" cy="1433957"/>
            </a:xfrm>
            <a:custGeom>
              <a:avLst/>
              <a:gdLst/>
              <a:ahLst/>
              <a:cxnLst/>
              <a:rect l="l" t="t" r="r" b="b"/>
              <a:pathLst>
                <a:path w="1405255" h="1433957">
                  <a:moveTo>
                    <a:pt x="0" y="0"/>
                  </a:moveTo>
                  <a:lnTo>
                    <a:pt x="1405255" y="0"/>
                  </a:lnTo>
                  <a:lnTo>
                    <a:pt x="1405255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5" r="1" b="-6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441" y="229762"/>
            <a:ext cx="3349257" cy="1075430"/>
            <a:chOff x="0" y="0"/>
            <a:chExt cx="4465676" cy="1433906"/>
          </a:xfrm>
        </p:grpSpPr>
        <p:sp>
          <p:nvSpPr>
            <p:cNvPr id="3" name="Freeform 3" descr="School of Commerce &amp; Management, Dayananda Sagar University, Bangalore"/>
            <p:cNvSpPr/>
            <p:nvPr/>
          </p:nvSpPr>
          <p:spPr>
            <a:xfrm>
              <a:off x="0" y="0"/>
              <a:ext cx="4465701" cy="1433957"/>
            </a:xfrm>
            <a:custGeom>
              <a:avLst/>
              <a:gdLst/>
              <a:ahLst/>
              <a:cxnLst/>
              <a:rect l="l" t="t" r="r" b="b"/>
              <a:pathLst>
                <a:path w="4465701" h="1433957">
                  <a:moveTo>
                    <a:pt x="0" y="0"/>
                  </a:moveTo>
                  <a:lnTo>
                    <a:pt x="4465701" y="0"/>
                  </a:lnTo>
                  <a:lnTo>
                    <a:pt x="4465701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1"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017143" y="229762"/>
            <a:ext cx="3521145" cy="1075430"/>
            <a:chOff x="0" y="0"/>
            <a:chExt cx="4694860" cy="1433906"/>
          </a:xfrm>
        </p:grpSpPr>
        <p:sp>
          <p:nvSpPr>
            <p:cNvPr id="5" name="Freeform 5" descr="DAYANANDA SAGAR UNIVERSITY SCHOOL OF ENGINEERING SCHEME &amp; SYLLABUS FOR  BACHELOR OF TECHNOLOGY (B.Tech.) – 2020 COMPUTER SC"/>
            <p:cNvSpPr/>
            <p:nvPr/>
          </p:nvSpPr>
          <p:spPr>
            <a:xfrm>
              <a:off x="0" y="0"/>
              <a:ext cx="4694809" cy="1433957"/>
            </a:xfrm>
            <a:custGeom>
              <a:avLst/>
              <a:gdLst/>
              <a:ahLst/>
              <a:cxnLst/>
              <a:rect l="l" t="t" r="r" b="b"/>
              <a:pathLst>
                <a:path w="4694809" h="1433957">
                  <a:moveTo>
                    <a:pt x="0" y="0"/>
                  </a:moveTo>
                  <a:lnTo>
                    <a:pt x="4694809" y="0"/>
                  </a:lnTo>
                  <a:lnTo>
                    <a:pt x="4694809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647970" y="128387"/>
            <a:ext cx="1760410" cy="1259957"/>
            <a:chOff x="0" y="0"/>
            <a:chExt cx="2347214" cy="1679943"/>
          </a:xfrm>
        </p:grpSpPr>
        <p:sp>
          <p:nvSpPr>
            <p:cNvPr id="7" name="Freeform 7" descr="Dayananda Sagar University"/>
            <p:cNvSpPr/>
            <p:nvPr/>
          </p:nvSpPr>
          <p:spPr>
            <a:xfrm>
              <a:off x="0" y="0"/>
              <a:ext cx="2347214" cy="1679956"/>
            </a:xfrm>
            <a:custGeom>
              <a:avLst/>
              <a:gdLst/>
              <a:ahLst/>
              <a:cxnLst/>
              <a:rect l="l" t="t" r="r" b="b"/>
              <a:pathLst>
                <a:path w="2347214" h="1679956">
                  <a:moveTo>
                    <a:pt x="0" y="0"/>
                  </a:moveTo>
                  <a:lnTo>
                    <a:pt x="2347214" y="0"/>
                  </a:lnTo>
                  <a:lnTo>
                    <a:pt x="2347214" y="1679956"/>
                  </a:lnTo>
                  <a:lnTo>
                    <a:pt x="0" y="1679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11" t="-11156" r="-9532" b="-1442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7058646" y="128387"/>
            <a:ext cx="1053922" cy="1075430"/>
            <a:chOff x="0" y="0"/>
            <a:chExt cx="1405230" cy="14339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5255" cy="1433957"/>
            </a:xfrm>
            <a:custGeom>
              <a:avLst/>
              <a:gdLst/>
              <a:ahLst/>
              <a:cxnLst/>
              <a:rect l="l" t="t" r="r" b="b"/>
              <a:pathLst>
                <a:path w="1405255" h="1433957">
                  <a:moveTo>
                    <a:pt x="0" y="0"/>
                  </a:moveTo>
                  <a:lnTo>
                    <a:pt x="1405255" y="0"/>
                  </a:lnTo>
                  <a:lnTo>
                    <a:pt x="1405255" y="1433957"/>
                  </a:lnTo>
                  <a:lnTo>
                    <a:pt x="0" y="1433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" r="1" b="-6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017665" y="2057400"/>
            <a:ext cx="8390715" cy="6712572"/>
            <a:chOff x="0" y="0"/>
            <a:chExt cx="11187620" cy="8950096"/>
          </a:xfrm>
        </p:grpSpPr>
        <p:sp>
          <p:nvSpPr>
            <p:cNvPr id="11" name="Freeform 11" descr="Thank You Vector Art, Icons, and Graphics for Free Download"/>
            <p:cNvSpPr/>
            <p:nvPr/>
          </p:nvSpPr>
          <p:spPr>
            <a:xfrm>
              <a:off x="0" y="0"/>
              <a:ext cx="11187684" cy="8950071"/>
            </a:xfrm>
            <a:custGeom>
              <a:avLst/>
              <a:gdLst/>
              <a:ahLst/>
              <a:cxnLst/>
              <a:rect l="l" t="t" r="r" b="b"/>
              <a:pathLst>
                <a:path w="11187684" h="8950071">
                  <a:moveTo>
                    <a:pt x="0" y="0"/>
                  </a:moveTo>
                  <a:lnTo>
                    <a:pt x="11187684" y="0"/>
                  </a:lnTo>
                  <a:lnTo>
                    <a:pt x="11187684" y="8950071"/>
                  </a:lnTo>
                  <a:lnTo>
                    <a:pt x="0" y="8950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186" b="-1281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Custom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TT Phobos</vt:lpstr>
      <vt:lpstr>Arial</vt:lpstr>
      <vt:lpstr>Calibri</vt:lpstr>
      <vt:lpstr>TT Phobos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- Synopsis.pptx</dc:title>
  <cp:lastModifiedBy>sravancherukuri65@outlook.com</cp:lastModifiedBy>
  <cp:revision>1</cp:revision>
  <dcterms:created xsi:type="dcterms:W3CDTF">2006-08-16T00:00:00Z</dcterms:created>
  <dcterms:modified xsi:type="dcterms:W3CDTF">2026-02-05T02:56:34Z</dcterms:modified>
  <dc:identifier>DAHAZgKnuwg</dc:identifier>
</cp:coreProperties>
</file>